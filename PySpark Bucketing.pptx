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Playfair Display"/>
      <p:regular r:id="rId14"/>
      <p:bold r:id="rId15"/>
      <p:italic r:id="rId16"/>
      <p:boldItalic r:id="rId17"/>
    </p:embeddedFon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Int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-bold.fntdata"/><Relationship Id="rId14" Type="http://schemas.openxmlformats.org/officeDocument/2006/relationships/font" Target="fonts/PlayfairDisplay-regular.fntdata"/><Relationship Id="rId17" Type="http://schemas.openxmlformats.org/officeDocument/2006/relationships/font" Target="fonts/PlayfairDisplay-boldItalic.fntdata"/><Relationship Id="rId16" Type="http://schemas.openxmlformats.org/officeDocument/2006/relationships/font" Target="fonts/PlayfairDispl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.fntdata"/><Relationship Id="rId6" Type="http://schemas.openxmlformats.org/officeDocument/2006/relationships/slide" Target="slides/slide1.xml"/><Relationship Id="rId18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03d90406e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03d90406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95300" y="2422844"/>
            <a:ext cx="1120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204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PySpark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5400" u="none" cap="none" strike="noStrike">
                <a:solidFill>
                  <a:srgbClr val="00204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Bucketing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680725" y="4169850"/>
            <a:ext cx="2899500" cy="8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Adan Ali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952500" y="571500"/>
            <a:ext cx="11001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04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SORTING YOUR LIBRARY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762000" y="571500"/>
            <a:ext cx="76200" cy="609600"/>
          </a:xfrm>
          <a:prstGeom prst="rect">
            <a:avLst/>
          </a:prstGeom>
          <a:solidFill>
            <a:srgbClr val="C19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762000" y="2206525"/>
            <a:ext cx="11001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Imagine two huge libraries. You want to find all books they share in common.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62000" y="3086397"/>
            <a:ext cx="50482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The Chaos Method (Shuffle):</a:t>
            </a: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You throw all books into a giant pile in the middle of a field, sort them, then compare. It’s slow and messy.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008850" y="3086405"/>
            <a:ext cx="5048400" cy="14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The Bucket Method:</a:t>
            </a: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You agree that both libraries will sort books into 100 specific bins based on the author's name. Now, you only ever compare Bin #1 with Bin #1.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952500" y="571500"/>
            <a:ext cx="11001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04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IS BUCKETING?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762000" y="571500"/>
            <a:ext cx="76200" cy="609600"/>
          </a:xfrm>
          <a:prstGeom prst="rect">
            <a:avLst/>
          </a:prstGeom>
          <a:solidFill>
            <a:srgbClr val="C19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1190625" y="2351186"/>
            <a:ext cx="10239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Fixed Distribution:</a:t>
            </a: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Data is organized into a pre-determined number of "buckets" (files) within the table directory. (Normall</a:t>
            </a:r>
            <a:r>
              <a:rPr lang="en-US" sz="165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y Parquet Files</a:t>
            </a: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190625" y="3259633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Hash-Based:</a:t>
            </a: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A hashing function determines which row goes to which file based on a specific column.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190625" y="3832919"/>
            <a:ext cx="10239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Metadata-Aware:</a:t>
            </a: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Spark saves the bucket information in the Metastore, so it "remembers" where the data lives.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190625" y="4741366"/>
            <a:ext cx="10239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Shuffle Elimination:</a:t>
            </a: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Since data is already co-located by key, Spark can skip the costly network exchange during joins.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5118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25963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83291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741366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6403" y="3352800"/>
            <a:ext cx="6153596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952500" y="571500"/>
            <a:ext cx="11001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04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HASHING MATH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762000" y="571500"/>
            <a:ext cx="76200" cy="609600"/>
          </a:xfrm>
          <a:prstGeom prst="rect">
            <a:avLst/>
          </a:prstGeom>
          <a:solidFill>
            <a:srgbClr val="C19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762000" y="2976562"/>
            <a:ext cx="3942903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00204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100%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762000" y="4500562"/>
            <a:ext cx="394290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19A6B"/>
                </a:solidFill>
                <a:latin typeface="Inter"/>
                <a:ea typeface="Inter"/>
                <a:cs typeface="Inter"/>
                <a:sym typeface="Inter"/>
              </a:rPr>
              <a:t>DETERMINISTIC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276403" y="2472928"/>
            <a:ext cx="6153596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Spark uses a specific formula to ensure the same value always lands in the same bucket file: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276403" y="4705350"/>
            <a:ext cx="6153596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If you have 100 buckets, the ID will always be between 0 and 99.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57403" y="3733800"/>
            <a:ext cx="5391596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129" name="Google Shape;12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62100"/>
            <a:ext cx="106680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/>
          <p:nvPr/>
        </p:nvSpPr>
        <p:spPr>
          <a:xfrm>
            <a:off x="952500" y="571500"/>
            <a:ext cx="11001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04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PERFORMANCE IMPACT</a:t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762000" y="571500"/>
            <a:ext cx="76200" cy="609600"/>
          </a:xfrm>
          <a:prstGeom prst="rect">
            <a:avLst/>
          </a:prstGeom>
          <a:solidFill>
            <a:srgbClr val="C19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762000" y="2184201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Time taken for a 1TB Join operation (Lower is better):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762000" y="5329237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By avoiding the Shuffle stage, we reduce network I/O by up to 90%.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952500" y="571500"/>
            <a:ext cx="11001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04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GOLDEN RULES</a:t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762000" y="571500"/>
            <a:ext cx="76200" cy="609600"/>
          </a:xfrm>
          <a:prstGeom prst="rect">
            <a:avLst/>
          </a:prstGeom>
          <a:solidFill>
            <a:srgbClr val="C19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1190625" y="2686347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Rule of N:</a:t>
            </a: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Joined tables must have the same number of buckets (or a multiple) to trigger optimization.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1190625" y="3259633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Cardinality:</a:t>
            </a: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Use bucketing for columns with millions of unique values where partitioning fails.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1190625" y="3832919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Sort Consistency:</a:t>
            </a: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Always sort your buckets (sortBy) to allow for faster Sort-Merge Joins.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1190625" y="4406205"/>
            <a:ext cx="10239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Table Only:</a:t>
            </a: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Bucketing only works if you use saveAsTable(). Writing to raw Parquet files loses the benefit.</a:t>
            </a:r>
            <a:endParaRPr/>
          </a:p>
        </p:txBody>
      </p:sp>
      <p:pic>
        <p:nvPicPr>
          <p:cNvPr descr="image.png" id="151" name="Google Shape;15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68634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25963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83291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40620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1125" y="20193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/>
        </p:nvSpPr>
        <p:spPr>
          <a:xfrm>
            <a:off x="952500" y="571500"/>
            <a:ext cx="11001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04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SMALL FILES TRAP</a:t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762000" y="571500"/>
            <a:ext cx="76200" cy="609600"/>
          </a:xfrm>
          <a:prstGeom prst="rect">
            <a:avLst/>
          </a:prstGeom>
          <a:solidFill>
            <a:srgbClr val="C19A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6381750" y="2485429"/>
            <a:ext cx="53006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04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Watch Your Bucket Count!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6381750" y="2933104"/>
            <a:ext cx="504825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If you set N = 10,000 for a small table, Spark will create 10,000 tiny files. This creates "NameNode pressure" and slows down your metadata operations.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6381750" y="4483298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Aim for bucket files that are roughly 128MB to 256MB each.</a:t>
            </a:r>
            <a:endParaRPr/>
          </a:p>
        </p:txBody>
      </p:sp>
      <p:pic>
        <p:nvPicPr>
          <p:cNvPr descr="image.png" id="166" name="Google Shape;16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81125" y="2019300"/>
            <a:ext cx="3810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